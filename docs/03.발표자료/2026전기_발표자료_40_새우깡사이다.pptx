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3" r:id="rId6"/>
    <p:sldId id="261" r:id="rId7"/>
    <p:sldId id="262" r:id="rId8"/>
    <p:sldId id="260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27C199"/>
    <a:srgbClr val="FF7CB6"/>
    <a:srgbClr val="FFFFFF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4660"/>
  </p:normalViewPr>
  <p:slideViewPr>
    <p:cSldViewPr snapToGrid="0">
      <p:cViewPr varScale="1">
        <p:scale>
          <a:sx n="57" d="100"/>
          <a:sy n="57" d="100"/>
        </p:scale>
        <p:origin x="44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F8B01-BD18-766A-04E9-D73EF95E2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ECFB62-67A6-D4B3-1C19-19A70E55C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6AF5F-334A-AB85-B576-AF165877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1F55A-A5A5-0216-0ACE-D44BA96F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70DAE-E2C5-9E46-7B3C-E44C9826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7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71839-114C-D250-1DC3-A9A50EC9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1E585-B2FF-D923-2E7A-113A3546D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0BB7B-4B96-5BC5-3A8F-440AE669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7FB58-48A8-B208-9963-79CF7C4A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53EAD0-A5DD-164E-E9F7-A93905E2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78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31DB6-6DD8-03ED-C65A-F45D3E10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7093AE-6A3B-C125-ED3E-9D4FA10F9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18B0A-DAFA-014E-5E79-B8326131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D054B-B923-DFFD-10C5-EC7B5322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58BB45-6D86-DB79-2794-37741ADF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83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5C088-7EF3-7222-BCE9-EB4F0108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19BD4B-CC5A-542E-7BE9-A8AD6FDDB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DDA5A6-4D61-53CF-A24C-8094C38CC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638643-CA16-506A-7EA6-B63BB816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65BB61-797A-668F-2AEB-1F2B1172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C67577-EEBF-5769-B092-E01A3AA3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7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4C3AD-8B2C-23CE-B2E4-4FD8E0C1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47052-235E-CB14-67BE-4A2F83D5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8C9916-18D3-84D6-597C-D7D46B649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B0BCF5-1F90-B194-29F8-567BCE59B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0A4E6-CE6B-6AC7-C35A-3C909CDF1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DC9E04-6FFF-9C0A-C3D2-35B36E9A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1AEED4-F35E-18A8-25C8-B4B587C7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6B2E3D-0BDE-3AB5-E6D0-E87BE9FD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95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83791-13F8-0528-EDEB-2EE90571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41B2EE-B605-B209-DB73-1E394608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CD4621-E24E-0D1C-6847-97A86C34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F20053-5B78-2B40-BD24-FF3D39D3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FA5385-9E06-57E7-0EC0-EB10EDAD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95E005-18B8-9F8F-48D7-AC603061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8575F-607B-0205-21E3-C765D4D4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5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CE35E-9B5E-F370-DBFD-9E801B6F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E81F8C-71F6-C91B-8546-2DA99B020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0749AB-3B5F-F460-6002-25B7F74A0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2A43B1-1260-A880-B356-75192CCF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9E85E-80F2-5D02-0CA7-F689247B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1A2807-B7EF-6E64-578B-B4C61E34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54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993D1-B9A9-EED1-F20A-90CB72B1E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83B39C-FB97-8B70-C78A-340666691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FECE0E-F176-2A33-4F90-334ED6753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0E047B-1C2C-FB81-0131-DBFA61B1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9DE2E5-7363-FCBF-5D9B-A9E69D0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12333-84EA-DDBD-02F9-6B63D8EB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1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9C464-F415-3A8F-FF39-30962724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842754-F0FC-30D9-6644-8D31F2B1E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CA2C-056A-91C4-95A9-91A38CB0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DDCE2-FB98-F763-C931-3DE7E426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C4E18-6D98-70FF-3F83-96E137BB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02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E5641C-4B30-0EF8-2E00-6D719ECAC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1DFAE9-4701-2BFB-DCF6-63090F208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3F93F-5C77-EC68-DE70-AE8F351D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3EAA5E-FBFC-518D-F9D8-8FCD86D0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5C24FE-9F46-ED8F-B707-566DE187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9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518E54-7AAE-1A9B-65B9-87E3135C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7A44CF-EE01-BD15-BAA0-341D9ED16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8C86F-3AF4-EA5A-A0DF-C0A9DBDAD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56791-4A44-46DA-918E-5F2BC3A0BBF6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ED01DE-1993-38D1-E883-008128D25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7D24D-DB16-B034-29CB-0950C6F81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8A9C1-1911-4BCC-96E8-4147F0F70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85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neproject.streamlit.app/" TargetMode="External"/><Relationship Id="rId2" Type="http://schemas.openxmlformats.org/officeDocument/2006/relationships/hyperlink" Target="http://localhost:8502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A6F421E-EACA-0003-F4DE-EF070DC479BB}"/>
              </a:ext>
            </a:extLst>
          </p:cNvPr>
          <p:cNvSpPr/>
          <p:nvPr/>
        </p:nvSpPr>
        <p:spPr>
          <a:xfrm>
            <a:off x="9209988" y="6080288"/>
            <a:ext cx="2742726" cy="6268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6F20B-7C55-9E53-CB8C-BDB4F8BDA651}"/>
              </a:ext>
            </a:extLst>
          </p:cNvPr>
          <p:cNvSpPr txBox="1"/>
          <p:nvPr/>
        </p:nvSpPr>
        <p:spPr>
          <a:xfrm>
            <a:off x="1335722" y="2721114"/>
            <a:ext cx="95205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AI</a:t>
            </a:r>
            <a:r>
              <a:rPr lang="ko-KR" altLang="en-US" sz="40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기반 해양 </a:t>
            </a:r>
            <a:r>
              <a:rPr lang="ko-KR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·</a:t>
            </a:r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</a:t>
            </a:r>
            <a:r>
              <a:rPr lang="ko-KR" altLang="en-US" sz="40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해안 침투 대상 탐지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44D0C-5367-D375-8FB6-D755CDA2FFFB}"/>
              </a:ext>
            </a:extLst>
          </p:cNvPr>
          <p:cNvSpPr txBox="1"/>
          <p:nvPr/>
        </p:nvSpPr>
        <p:spPr>
          <a:xfrm>
            <a:off x="9314985" y="6200078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김성윤</a:t>
            </a:r>
            <a:r>
              <a:rPr lang="en-US" altLang="ko-KR" b="1" dirty="0"/>
              <a:t>, </a:t>
            </a:r>
            <a:r>
              <a:rPr lang="ko-KR" altLang="en-US" b="1" dirty="0"/>
              <a:t>김윤지</a:t>
            </a:r>
            <a:r>
              <a:rPr lang="en-US" altLang="ko-KR" b="1" dirty="0"/>
              <a:t>, </a:t>
            </a:r>
            <a:r>
              <a:rPr lang="ko-KR" altLang="en-US" b="1" dirty="0" err="1"/>
              <a:t>서연우</a:t>
            </a:r>
            <a:endParaRPr lang="ko-KR" altLang="en-US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B8C84D-9DB2-7364-42B4-E5092C67C953}"/>
              </a:ext>
            </a:extLst>
          </p:cNvPr>
          <p:cNvSpPr/>
          <p:nvPr/>
        </p:nvSpPr>
        <p:spPr>
          <a:xfrm>
            <a:off x="9775596" y="5315776"/>
            <a:ext cx="2177118" cy="6268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4743B-543A-48A0-49FA-C681A5C3DA7F}"/>
              </a:ext>
            </a:extLst>
          </p:cNvPr>
          <p:cNvSpPr txBox="1"/>
          <p:nvPr/>
        </p:nvSpPr>
        <p:spPr>
          <a:xfrm>
            <a:off x="9843820" y="5444518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지도교수 </a:t>
            </a:r>
            <a:r>
              <a:rPr lang="en-US" altLang="ko-KR" b="1" dirty="0"/>
              <a:t>: </a:t>
            </a:r>
            <a:r>
              <a:rPr lang="ko-KR" altLang="en-US" b="1" dirty="0"/>
              <a:t>손준영</a:t>
            </a:r>
          </a:p>
        </p:txBody>
      </p:sp>
    </p:spTree>
    <p:extLst>
      <p:ext uri="{BB962C8B-B14F-4D97-AF65-F5344CB8AC3E}">
        <p14:creationId xmlns:p14="http://schemas.microsoft.com/office/powerpoint/2010/main" val="368517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5A76685-D6FB-D66C-776C-1A1E373CC2B6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2DFFC-8199-76B6-136F-DD7FF94D8E55}"/>
              </a:ext>
            </a:extLst>
          </p:cNvPr>
          <p:cNvSpPr txBox="1"/>
          <p:nvPr/>
        </p:nvSpPr>
        <p:spPr>
          <a:xfrm>
            <a:off x="379142" y="150893"/>
            <a:ext cx="24176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연구 배경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FEC860-D0D2-A5A1-A84D-AC595502A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47"/>
          <a:stretch>
            <a:fillRect/>
          </a:stretch>
        </p:blipFill>
        <p:spPr>
          <a:xfrm>
            <a:off x="3972870" y="1169370"/>
            <a:ext cx="3866043" cy="399110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492BB5-94CB-C84E-ABBE-73D5CCC6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01" y="1169370"/>
            <a:ext cx="3968213" cy="359204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D1EA403-852F-7430-CC7D-964095107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39" y="1169371"/>
            <a:ext cx="3684843" cy="3991102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080DDAC-9051-947B-EBE8-8E9B25F2C288}"/>
              </a:ext>
            </a:extLst>
          </p:cNvPr>
          <p:cNvSpPr/>
          <p:nvPr/>
        </p:nvSpPr>
        <p:spPr>
          <a:xfrm>
            <a:off x="216816" y="5370789"/>
            <a:ext cx="7622097" cy="13363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CD56A-1C96-009B-212C-6C93A90B85AE}"/>
              </a:ext>
            </a:extLst>
          </p:cNvPr>
          <p:cNvSpPr txBox="1"/>
          <p:nvPr/>
        </p:nvSpPr>
        <p:spPr>
          <a:xfrm>
            <a:off x="379142" y="5438783"/>
            <a:ext cx="4835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넓은 </a:t>
            </a:r>
            <a:r>
              <a:rPr lang="ko-KR" altLang="ko-KR" b="1" dirty="0" err="1"/>
              <a:t>해안·해상</a:t>
            </a:r>
            <a:r>
              <a:rPr lang="ko-KR" altLang="ko-KR" b="1" dirty="0"/>
              <a:t> 영역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사람에 의한 </a:t>
            </a:r>
            <a:r>
              <a:rPr lang="ko-KR" altLang="ko-KR" b="1" dirty="0" err="1"/>
              <a:t>24시간</a:t>
            </a:r>
            <a:r>
              <a:rPr lang="ko-KR" altLang="ko-KR" b="1" dirty="0"/>
              <a:t> 지속 감시의 한계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b="1" dirty="0" err="1"/>
              <a:t>선박·사람·드론</a:t>
            </a:r>
            <a:r>
              <a:rPr lang="ko-KR" altLang="ko-KR" b="1" dirty="0"/>
              <a:t> 등 다양한 객체 존재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정상 객체와 위협 가능 객체의 구별 필요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1EE235D-F4E1-CA0C-80D5-60E99A3E7574}"/>
              </a:ext>
            </a:extLst>
          </p:cNvPr>
          <p:cNvSpPr/>
          <p:nvPr/>
        </p:nvSpPr>
        <p:spPr>
          <a:xfrm>
            <a:off x="8001239" y="5370788"/>
            <a:ext cx="3951475" cy="13363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FCE772-B37F-FECB-97DB-2896C544004E}"/>
              </a:ext>
            </a:extLst>
          </p:cNvPr>
          <p:cNvSpPr txBox="1"/>
          <p:nvPr/>
        </p:nvSpPr>
        <p:spPr>
          <a:xfrm>
            <a:off x="8151517" y="5715781"/>
            <a:ext cx="382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 err="1"/>
              <a:t>항만·연안의</a:t>
            </a:r>
            <a:r>
              <a:rPr lang="ko-KR" altLang="ko-KR" b="1" dirty="0"/>
              <a:t> 중요성이 커질수록 </a:t>
            </a:r>
            <a:endParaRPr lang="en-US" altLang="ko-KR" b="1" dirty="0"/>
          </a:p>
          <a:p>
            <a:r>
              <a:rPr lang="ko-KR" altLang="ko-KR" b="1" dirty="0"/>
              <a:t>지능형 감시 기술의 필요성도 증가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797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61F43-44C3-0F6E-053E-06F55EC6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B44BAD-A00B-967D-9C52-C74C91310064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90166-D334-2443-5121-AE4295B49509}"/>
              </a:ext>
            </a:extLst>
          </p:cNvPr>
          <p:cNvSpPr txBox="1"/>
          <p:nvPr/>
        </p:nvSpPr>
        <p:spPr>
          <a:xfrm>
            <a:off x="379142" y="150893"/>
            <a:ext cx="24176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연구 배경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A7014CB-94FC-4479-0E1A-55A3FEE48AF1}"/>
              </a:ext>
            </a:extLst>
          </p:cNvPr>
          <p:cNvGrpSpPr/>
          <p:nvPr/>
        </p:nvGrpSpPr>
        <p:grpSpPr>
          <a:xfrm>
            <a:off x="461912" y="1471048"/>
            <a:ext cx="8465272" cy="4772246"/>
            <a:chOff x="1621409" y="1471048"/>
            <a:chExt cx="8465272" cy="477224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3C7792E-C623-20EA-34C2-F71AC3D15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1409" y="1471048"/>
              <a:ext cx="8465272" cy="477224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061A5CF-6E38-3AE7-87D4-BC8662571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227669" y="3378152"/>
              <a:ext cx="578827" cy="36721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CB32454-DC9F-0929-7C65-3359F8167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763" y="4174045"/>
              <a:ext cx="749894" cy="74989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6305193-80C6-1EEC-C98E-19C7988F0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29906" y="1708428"/>
              <a:ext cx="950825" cy="950825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7EEA56A-100E-8E88-9420-64B5B3F688C6}"/>
                </a:ext>
              </a:extLst>
            </p:cNvPr>
            <p:cNvGrpSpPr/>
            <p:nvPr/>
          </p:nvGrpSpPr>
          <p:grpSpPr>
            <a:xfrm flipH="1">
              <a:off x="1887635" y="4712891"/>
              <a:ext cx="2714804" cy="456757"/>
              <a:chOff x="4661620" y="1190667"/>
              <a:chExt cx="5981800" cy="1267212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E510AF7-737B-31E5-380F-C29436246E56}"/>
                  </a:ext>
                </a:extLst>
              </p:cNvPr>
              <p:cNvSpPr/>
              <p:nvPr/>
            </p:nvSpPr>
            <p:spPr>
              <a:xfrm rot="21081466">
                <a:off x="5303445" y="1928868"/>
                <a:ext cx="5339975" cy="3628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54BF1B63-7922-D1FF-1647-CB3343A5C271}"/>
                  </a:ext>
                </a:extLst>
              </p:cNvPr>
              <p:cNvSpPr/>
              <p:nvPr/>
            </p:nvSpPr>
            <p:spPr>
              <a:xfrm>
                <a:off x="6294048" y="1190667"/>
                <a:ext cx="1115420" cy="10906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45AA15E-7556-DA5A-FED1-9D1BE639E8FD}"/>
                  </a:ext>
                </a:extLst>
              </p:cNvPr>
              <p:cNvSpPr/>
              <p:nvPr/>
            </p:nvSpPr>
            <p:spPr>
              <a:xfrm>
                <a:off x="7183419" y="1294456"/>
                <a:ext cx="2837746" cy="7228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9C1D6D54-4335-2730-1E1A-4674AA59DEE3}"/>
                  </a:ext>
                </a:extLst>
              </p:cNvPr>
              <p:cNvSpPr/>
              <p:nvPr/>
            </p:nvSpPr>
            <p:spPr>
              <a:xfrm>
                <a:off x="5249598" y="1734999"/>
                <a:ext cx="1044450" cy="7228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498F8038-D0E4-FD77-B964-F879F3F63C61}"/>
                  </a:ext>
                </a:extLst>
              </p:cNvPr>
              <p:cNvSpPr/>
              <p:nvPr/>
            </p:nvSpPr>
            <p:spPr>
              <a:xfrm rot="16598696">
                <a:off x="4694053" y="1736651"/>
                <a:ext cx="556575" cy="621441"/>
              </a:xfrm>
              <a:prstGeom prst="triangle">
                <a:avLst>
                  <a:gd name="adj" fmla="val 46794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F8DFA2C-9F91-9F26-BBC5-182FABEC5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87396" y="4298623"/>
              <a:ext cx="3026005" cy="1088329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02437CD-0D7F-8647-8B23-1E4236D55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1082" y="3257050"/>
              <a:ext cx="587881" cy="258668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60D232FF-BA7D-1885-E7B3-D84A133A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DFDFDF"/>
                </a:clrFrom>
                <a:clrTo>
                  <a:srgbClr val="DFDFD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27" t="11451" r="37474" b="4425"/>
            <a:stretch>
              <a:fillRect/>
            </a:stretch>
          </p:blipFill>
          <p:spPr>
            <a:xfrm flipH="1">
              <a:off x="5965702" y="4750301"/>
              <a:ext cx="297615" cy="930756"/>
            </a:xfrm>
            <a:prstGeom prst="rect">
              <a:avLst/>
            </a:prstGeom>
          </p:spPr>
        </p:pic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B260F966-259F-2C98-0B07-79CCB157E848}"/>
                </a:ext>
              </a:extLst>
            </p:cNvPr>
            <p:cNvGrpSpPr/>
            <p:nvPr/>
          </p:nvGrpSpPr>
          <p:grpSpPr>
            <a:xfrm>
              <a:off x="4173050" y="3048502"/>
              <a:ext cx="671383" cy="670238"/>
              <a:chOff x="4108006" y="2165598"/>
              <a:chExt cx="671383" cy="670238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A271D7A-CAB5-0CAB-D937-F9081163A292}"/>
                  </a:ext>
                </a:extLst>
              </p:cNvPr>
              <p:cNvSpPr/>
              <p:nvPr/>
            </p:nvSpPr>
            <p:spPr>
              <a:xfrm>
                <a:off x="4124690" y="2475799"/>
                <a:ext cx="654699" cy="360037"/>
              </a:xfrm>
              <a:prstGeom prst="rect">
                <a:avLst/>
              </a:prstGeom>
              <a:noFill/>
              <a:ln w="25400"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9AEC49-EEC0-BCEC-A046-65C71CC10723}"/>
                  </a:ext>
                </a:extLst>
              </p:cNvPr>
              <p:cNvSpPr txBox="1"/>
              <p:nvPr/>
            </p:nvSpPr>
            <p:spPr>
              <a:xfrm>
                <a:off x="4108006" y="2165598"/>
                <a:ext cx="543739" cy="30777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/>
                  <a:t>드론</a:t>
                </a:r>
                <a:endParaRPr lang="ko-KR" altLang="en-US" sz="1400" b="1" dirty="0"/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CEDDC34-22AC-BEB3-6E3D-A39EC587931F}"/>
                </a:ext>
              </a:extLst>
            </p:cNvPr>
            <p:cNvSpPr/>
            <p:nvPr/>
          </p:nvSpPr>
          <p:spPr>
            <a:xfrm>
              <a:off x="3027766" y="3194532"/>
              <a:ext cx="654699" cy="360037"/>
            </a:xfrm>
            <a:prstGeom prst="rect">
              <a:avLst/>
            </a:prstGeom>
            <a:noFill/>
            <a:ln w="254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363B01-8C60-F974-8C19-18B4FA914E73}"/>
                </a:ext>
              </a:extLst>
            </p:cNvPr>
            <p:cNvSpPr txBox="1"/>
            <p:nvPr/>
          </p:nvSpPr>
          <p:spPr>
            <a:xfrm>
              <a:off x="3011082" y="2884331"/>
              <a:ext cx="543739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/>
                <a:t>드론</a:t>
              </a:r>
              <a:endParaRPr lang="ko-KR" altLang="en-US" sz="1400" b="1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3E144CB-7056-9298-048B-E4B1D6DB7EF0}"/>
                </a:ext>
              </a:extLst>
            </p:cNvPr>
            <p:cNvSpPr/>
            <p:nvPr/>
          </p:nvSpPr>
          <p:spPr>
            <a:xfrm>
              <a:off x="1822113" y="4337970"/>
              <a:ext cx="2957276" cy="1041847"/>
            </a:xfrm>
            <a:prstGeom prst="rect">
              <a:avLst/>
            </a:prstGeom>
            <a:noFill/>
            <a:ln w="254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145FD0-BD8C-9955-F0AE-66F426A52604}"/>
                </a:ext>
              </a:extLst>
            </p:cNvPr>
            <p:cNvSpPr txBox="1"/>
            <p:nvPr/>
          </p:nvSpPr>
          <p:spPr>
            <a:xfrm>
              <a:off x="1805429" y="4027769"/>
              <a:ext cx="543739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선박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4436DE3-D365-6A50-3150-3013F7ABB4E6}"/>
                </a:ext>
              </a:extLst>
            </p:cNvPr>
            <p:cNvSpPr/>
            <p:nvPr/>
          </p:nvSpPr>
          <p:spPr>
            <a:xfrm>
              <a:off x="5012416" y="4111419"/>
              <a:ext cx="634242" cy="899439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AA6090-FDA3-9069-652C-D2D3DE9EE1DC}"/>
                </a:ext>
              </a:extLst>
            </p:cNvPr>
            <p:cNvSpPr txBox="1"/>
            <p:nvPr/>
          </p:nvSpPr>
          <p:spPr>
            <a:xfrm>
              <a:off x="4995731" y="3801218"/>
              <a:ext cx="723275" cy="30777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>
                  <a:solidFill>
                    <a:schemeClr val="bg1"/>
                  </a:solidFill>
                </a:rPr>
                <a:t>침투조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C85F0E4-F1EB-6252-0736-EBF0E85E1915}"/>
                </a:ext>
              </a:extLst>
            </p:cNvPr>
            <p:cNvSpPr/>
            <p:nvPr/>
          </p:nvSpPr>
          <p:spPr>
            <a:xfrm>
              <a:off x="5879684" y="4750301"/>
              <a:ext cx="634242" cy="930756"/>
            </a:xfrm>
            <a:prstGeom prst="rect">
              <a:avLst/>
            </a:prstGeom>
            <a:noFill/>
            <a:ln w="254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15F0BB2-AFDF-8D76-23D2-4119976FA534}"/>
                </a:ext>
              </a:extLst>
            </p:cNvPr>
            <p:cNvSpPr txBox="1"/>
            <p:nvPr/>
          </p:nvSpPr>
          <p:spPr>
            <a:xfrm>
              <a:off x="5862999" y="4440100"/>
              <a:ext cx="543739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/>
                <a:t>사람</a:t>
              </a:r>
            </a:p>
          </p:txBody>
        </p:sp>
        <p:sp>
          <p:nvSpPr>
            <p:cNvPr id="45" name="이등변 삼각형 44">
              <a:extLst>
                <a:ext uri="{FF2B5EF4-FFF2-40B4-BE49-F238E27FC236}">
                  <a16:creationId xmlns:a16="http://schemas.microsoft.com/office/drawing/2014/main" id="{1C506683-6C90-330C-A27F-704CAF9C8CC6}"/>
                </a:ext>
              </a:extLst>
            </p:cNvPr>
            <p:cNvSpPr/>
            <p:nvPr/>
          </p:nvSpPr>
          <p:spPr>
            <a:xfrm>
              <a:off x="1776513" y="2183840"/>
              <a:ext cx="5673172" cy="3594791"/>
            </a:xfrm>
            <a:prstGeom prst="triangle">
              <a:avLst>
                <a:gd name="adj" fmla="val 9835"/>
              </a:avLst>
            </a:prstGeom>
            <a:solidFill>
              <a:srgbClr val="FFFFFF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A248B7C-A9FC-E140-B2E3-FFCF8A581309}"/>
                </a:ext>
              </a:extLst>
            </p:cNvPr>
            <p:cNvSpPr txBox="1"/>
            <p:nvPr/>
          </p:nvSpPr>
          <p:spPr>
            <a:xfrm>
              <a:off x="2241769" y="1559270"/>
              <a:ext cx="769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CCTV</a:t>
              </a:r>
              <a:endParaRPr lang="ko-KR" altLang="en-US" b="1" dirty="0"/>
            </a:p>
          </p:txBody>
        </p:sp>
      </p:grp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CBC3EA4-D340-747E-8C31-18A0F8906A76}"/>
              </a:ext>
            </a:extLst>
          </p:cNvPr>
          <p:cNvCxnSpPr>
            <a:cxnSpLocks/>
            <a:stCxn id="40" idx="3"/>
            <a:endCxn id="55" idx="1"/>
          </p:cNvCxnSpPr>
          <p:nvPr/>
        </p:nvCxnSpPr>
        <p:spPr>
          <a:xfrm flipV="1">
            <a:off x="4559509" y="2836886"/>
            <a:ext cx="1536491" cy="1118221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D6766DE-2877-D3B9-2615-5911DF5370A3}"/>
              </a:ext>
            </a:extLst>
          </p:cNvPr>
          <p:cNvSpPr/>
          <p:nvPr/>
        </p:nvSpPr>
        <p:spPr>
          <a:xfrm>
            <a:off x="6096000" y="1669236"/>
            <a:ext cx="5534210" cy="233530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92000"/>
            </a:schemeClr>
          </a:solidFill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9656750-0791-0DC3-8375-5357422DEA6C}"/>
              </a:ext>
            </a:extLst>
          </p:cNvPr>
          <p:cNvGrpSpPr/>
          <p:nvPr/>
        </p:nvGrpSpPr>
        <p:grpSpPr>
          <a:xfrm>
            <a:off x="6257173" y="1738785"/>
            <a:ext cx="5534210" cy="2216321"/>
            <a:chOff x="5789511" y="1820880"/>
            <a:chExt cx="5534210" cy="221632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751D8D-C641-691C-8B21-667E0D19EC69}"/>
                </a:ext>
              </a:extLst>
            </p:cNvPr>
            <p:cNvSpPr txBox="1"/>
            <p:nvPr/>
          </p:nvSpPr>
          <p:spPr>
            <a:xfrm>
              <a:off x="5789512" y="1820880"/>
              <a:ext cx="2036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>
                  <a:solidFill>
                    <a:schemeClr val="bg1"/>
                  </a:solidFill>
                </a:rPr>
                <a:t>침투조</a:t>
              </a:r>
              <a:r>
                <a:rPr lang="en-US" altLang="ko-KR" b="1" dirty="0">
                  <a:solidFill>
                    <a:schemeClr val="bg1"/>
                  </a:solidFill>
                </a:rPr>
                <a:t>?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1AC1DDF-7A8F-5563-0A1C-4415813E129B}"/>
                </a:ext>
              </a:extLst>
            </p:cNvPr>
            <p:cNvSpPr txBox="1"/>
            <p:nvPr/>
          </p:nvSpPr>
          <p:spPr>
            <a:xfrm>
              <a:off x="5789511" y="2185520"/>
              <a:ext cx="55342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dirty="0">
                  <a:solidFill>
                    <a:schemeClr val="bg1"/>
                  </a:solidFill>
                </a:rPr>
                <a:t>해양 또는 해안 주변으로 접근하여 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r>
                <a:rPr lang="ko-KR" altLang="ko-KR" dirty="0">
                  <a:solidFill>
                    <a:schemeClr val="bg1"/>
                  </a:solidFill>
                </a:rPr>
                <a:t>해양 안보에 위협이 될 가능성이 있는 다양한 객체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83021B3-8B08-FD21-7E1E-5FDEA2BE9877}"/>
                </a:ext>
              </a:extLst>
            </p:cNvPr>
            <p:cNvSpPr txBox="1"/>
            <p:nvPr/>
          </p:nvSpPr>
          <p:spPr>
            <a:xfrm>
              <a:off x="5793931" y="2836872"/>
              <a:ext cx="28542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• </a:t>
              </a:r>
              <a:r>
                <a:rPr lang="ko-KR" altLang="en-US" dirty="0">
                  <a:solidFill>
                    <a:schemeClr val="bg1"/>
                  </a:solidFill>
                </a:rPr>
                <a:t>육상</a:t>
              </a:r>
              <a:r>
                <a:rPr lang="en-US" altLang="ko-KR" dirty="0">
                  <a:solidFill>
                    <a:schemeClr val="bg1"/>
                  </a:solidFill>
                </a:rPr>
                <a:t>·</a:t>
              </a:r>
              <a:r>
                <a:rPr lang="ko-KR" altLang="en-US" dirty="0">
                  <a:solidFill>
                    <a:schemeClr val="bg1"/>
                  </a:solidFill>
                </a:rPr>
                <a:t>해안 </a:t>
              </a:r>
              <a:r>
                <a:rPr lang="en-US" altLang="ko-KR" dirty="0">
                  <a:solidFill>
                    <a:schemeClr val="bg1"/>
                  </a:solidFill>
                </a:rPr>
                <a:t>: </a:t>
              </a:r>
              <a:r>
                <a:rPr lang="ko-KR" altLang="en-US" dirty="0">
                  <a:solidFill>
                    <a:schemeClr val="bg1"/>
                  </a:solidFill>
                </a:rPr>
                <a:t>무장 인원</a:t>
              </a:r>
            </a:p>
            <a:p>
              <a:r>
                <a:rPr lang="en-US" altLang="ko-KR" dirty="0">
                  <a:solidFill>
                    <a:schemeClr val="bg1"/>
                  </a:solidFill>
                </a:rPr>
                <a:t>• </a:t>
              </a:r>
              <a:r>
                <a:rPr lang="ko-KR" altLang="en-US" dirty="0">
                  <a:solidFill>
                    <a:schemeClr val="bg1"/>
                  </a:solidFill>
                </a:rPr>
                <a:t>해상 </a:t>
              </a:r>
              <a:r>
                <a:rPr lang="en-US" altLang="ko-KR" dirty="0">
                  <a:solidFill>
                    <a:schemeClr val="bg1"/>
                  </a:solidFill>
                </a:rPr>
                <a:t>: </a:t>
              </a:r>
              <a:r>
                <a:rPr lang="ko-KR" altLang="en-US" dirty="0">
                  <a:solidFill>
                    <a:schemeClr val="bg1"/>
                  </a:solidFill>
                </a:rPr>
                <a:t>의심 선박</a:t>
              </a:r>
            </a:p>
            <a:p>
              <a:r>
                <a:rPr lang="en-US" altLang="ko-KR" dirty="0">
                  <a:solidFill>
                    <a:schemeClr val="bg1"/>
                  </a:solidFill>
                </a:rPr>
                <a:t>• </a:t>
              </a:r>
              <a:r>
                <a:rPr lang="ko-KR" altLang="en-US" dirty="0">
                  <a:solidFill>
                    <a:schemeClr val="bg1"/>
                  </a:solidFill>
                </a:rPr>
                <a:t>공중 </a:t>
              </a:r>
              <a:r>
                <a:rPr lang="en-US" altLang="ko-KR" dirty="0">
                  <a:solidFill>
                    <a:schemeClr val="bg1"/>
                  </a:solidFill>
                </a:rPr>
                <a:t>: </a:t>
              </a:r>
              <a:r>
                <a:rPr lang="ko-KR" altLang="en-US" dirty="0" err="1">
                  <a:solidFill>
                    <a:schemeClr val="bg1"/>
                  </a:solidFill>
                </a:rPr>
                <a:t>드론</a:t>
              </a:r>
              <a:endParaRPr lang="ko-KR" altLang="en-US" dirty="0">
                <a:solidFill>
                  <a:schemeClr val="bg1"/>
                </a:solidFill>
              </a:endParaRPr>
            </a:p>
            <a:p>
              <a:r>
                <a:rPr lang="en-US" altLang="ko-KR" dirty="0">
                  <a:solidFill>
                    <a:schemeClr val="bg1"/>
                  </a:solidFill>
                </a:rPr>
                <a:t>• </a:t>
              </a:r>
              <a:r>
                <a:rPr lang="ko-KR" altLang="en-US" dirty="0">
                  <a:solidFill>
                    <a:schemeClr val="bg1"/>
                  </a:solidFill>
                </a:rPr>
                <a:t>수중 </a:t>
              </a:r>
              <a:r>
                <a:rPr lang="en-US" altLang="ko-KR" dirty="0">
                  <a:solidFill>
                    <a:schemeClr val="bg1"/>
                  </a:solidFill>
                </a:rPr>
                <a:t>: </a:t>
              </a:r>
              <a:r>
                <a:rPr lang="ko-KR" altLang="en-US" dirty="0">
                  <a:solidFill>
                    <a:schemeClr val="bg1"/>
                  </a:solidFill>
                </a:rPr>
                <a:t>어뢰</a:t>
              </a:r>
              <a:r>
                <a:rPr lang="en-US" altLang="ko-KR" dirty="0">
                  <a:solidFill>
                    <a:schemeClr val="bg1"/>
                  </a:solidFill>
                </a:rPr>
                <a:t>·</a:t>
              </a:r>
              <a:r>
                <a:rPr lang="ko-KR" altLang="en-US" dirty="0" err="1">
                  <a:solidFill>
                    <a:schemeClr val="bg1"/>
                  </a:solidFill>
                </a:rPr>
                <a:t>무인잠수정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23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46A1C-8033-594B-4AB3-0B11E678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6281B83-7DCD-B7AC-C105-AA104EEEC774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D0CEC-9658-3BF6-72E0-2A27266B1654}"/>
              </a:ext>
            </a:extLst>
          </p:cNvPr>
          <p:cNvSpPr txBox="1"/>
          <p:nvPr/>
        </p:nvSpPr>
        <p:spPr>
          <a:xfrm>
            <a:off x="379142" y="150893"/>
            <a:ext cx="4137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전체 시스템 구성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BE2F0A-892C-F86F-D23C-9D1331B37097}"/>
              </a:ext>
            </a:extLst>
          </p:cNvPr>
          <p:cNvSpPr/>
          <p:nvPr/>
        </p:nvSpPr>
        <p:spPr>
          <a:xfrm>
            <a:off x="141402" y="1571237"/>
            <a:ext cx="5954598" cy="4970967"/>
          </a:xfrm>
          <a:prstGeom prst="roundRect">
            <a:avLst/>
          </a:prstGeom>
          <a:solidFill>
            <a:schemeClr val="accent3">
              <a:lumMod val="40000"/>
              <a:lumOff val="6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2" name="화살표: 오른쪽 151">
            <a:extLst>
              <a:ext uri="{FF2B5EF4-FFF2-40B4-BE49-F238E27FC236}">
                <a16:creationId xmlns:a16="http://schemas.microsoft.com/office/drawing/2014/main" id="{F795174E-FD07-DCA6-992D-B61E002747C1}"/>
              </a:ext>
            </a:extLst>
          </p:cNvPr>
          <p:cNvSpPr/>
          <p:nvPr/>
        </p:nvSpPr>
        <p:spPr>
          <a:xfrm>
            <a:off x="5793794" y="1141753"/>
            <a:ext cx="604412" cy="927084"/>
          </a:xfrm>
          <a:prstGeom prst="rightArrow">
            <a:avLst>
              <a:gd name="adj1" fmla="val 50000"/>
              <a:gd name="adj2" fmla="val 4688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id="{7C0D4A07-350E-EB35-6E6A-1580DAF79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24" y="4279199"/>
            <a:ext cx="4995100" cy="2085314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634C9805-93AF-FC60-32A6-B20175BEE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71" y="1846382"/>
            <a:ext cx="3436079" cy="2162960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64404ED0-368C-D086-68D9-773B9C0A9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71" y="1894934"/>
            <a:ext cx="1572205" cy="2092967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33708F1B-5A1A-B7E0-AF40-12448726AF34}"/>
              </a:ext>
            </a:extLst>
          </p:cNvPr>
          <p:cNvSpPr txBox="1"/>
          <p:nvPr/>
        </p:nvSpPr>
        <p:spPr>
          <a:xfrm>
            <a:off x="1761483" y="1228290"/>
            <a:ext cx="2714436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ko-KR" altLang="en-US" sz="2400" b="1" dirty="0"/>
              <a:t>데이터셋 구축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9EE736E-F90C-3BBD-4E88-2DC8685C2C42}"/>
              </a:ext>
            </a:extLst>
          </p:cNvPr>
          <p:cNvSpPr txBox="1"/>
          <p:nvPr/>
        </p:nvSpPr>
        <p:spPr>
          <a:xfrm>
            <a:off x="6554592" y="1247785"/>
            <a:ext cx="3494330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ko-KR" altLang="en-US" sz="2400" b="1"/>
              <a:t>객체 탐지 모델 </a:t>
            </a:r>
            <a:r>
              <a:rPr lang="ko-KR" altLang="en-US" sz="2400" b="1" dirty="0"/>
              <a:t>학습</a:t>
            </a: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996BE6BB-A787-7F5D-C719-E59B5AF3EAA8}"/>
              </a:ext>
            </a:extLst>
          </p:cNvPr>
          <p:cNvGrpSpPr/>
          <p:nvPr/>
        </p:nvGrpSpPr>
        <p:grpSpPr>
          <a:xfrm>
            <a:off x="6869936" y="2067702"/>
            <a:ext cx="2179797" cy="509194"/>
            <a:chOff x="6869936" y="2067702"/>
            <a:chExt cx="2179797" cy="509194"/>
          </a:xfrm>
        </p:grpSpPr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E5B67AA0-96A4-BA30-9A0C-95AA1CB20575}"/>
                </a:ext>
              </a:extLst>
            </p:cNvPr>
            <p:cNvSpPr/>
            <p:nvPr/>
          </p:nvSpPr>
          <p:spPr>
            <a:xfrm>
              <a:off x="6869936" y="2067702"/>
              <a:ext cx="2102177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EFFF4CB-1319-9E2B-A659-EEB466B32B2E}"/>
                </a:ext>
              </a:extLst>
            </p:cNvPr>
            <p:cNvSpPr txBox="1"/>
            <p:nvPr/>
          </p:nvSpPr>
          <p:spPr>
            <a:xfrm>
              <a:off x="6947556" y="2134600"/>
              <a:ext cx="2102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Roboflow</a:t>
              </a:r>
              <a:r>
                <a:rPr lang="en-US" altLang="ko-KR" dirty="0"/>
                <a:t> </a:t>
              </a:r>
              <a:r>
                <a:rPr lang="ko-KR" altLang="en-US" dirty="0" err="1"/>
                <a:t>라벨링</a:t>
              </a:r>
              <a:endParaRPr lang="ko-KR" altLang="en-US" dirty="0"/>
            </a:p>
          </p:txBody>
        </p:sp>
      </p:grp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AC88AB99-330A-AE16-AC75-1DC6B5D5A342}"/>
              </a:ext>
            </a:extLst>
          </p:cNvPr>
          <p:cNvSpPr/>
          <p:nvPr/>
        </p:nvSpPr>
        <p:spPr>
          <a:xfrm>
            <a:off x="6869936" y="2925180"/>
            <a:ext cx="2102177" cy="509194"/>
          </a:xfrm>
          <a:prstGeom prst="roundRect">
            <a:avLst/>
          </a:prstGeom>
          <a:solidFill>
            <a:schemeClr val="accent3">
              <a:lumMod val="40000"/>
              <a:lumOff val="60000"/>
              <a:alpha val="17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CD2C6BA-7708-7738-6363-A3C7CFF88792}"/>
              </a:ext>
            </a:extLst>
          </p:cNvPr>
          <p:cNvSpPr txBox="1"/>
          <p:nvPr/>
        </p:nvSpPr>
        <p:spPr>
          <a:xfrm>
            <a:off x="6869936" y="2995111"/>
            <a:ext cx="2179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YOLO</a:t>
            </a:r>
            <a:r>
              <a:rPr lang="ko-KR" altLang="ko-KR" dirty="0"/>
              <a:t>-</a:t>
            </a:r>
            <a:r>
              <a:rPr lang="en-US" altLang="ko-KR" dirty="0"/>
              <a:t>v</a:t>
            </a:r>
            <a:r>
              <a:rPr lang="ko-KR" altLang="ko-KR" dirty="0"/>
              <a:t>5 객체 탐지</a:t>
            </a:r>
            <a:endParaRPr lang="ko-KR" altLang="en-US" dirty="0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D03CABF1-5073-3FF2-1AB8-2A29C3F5BF86}"/>
              </a:ext>
            </a:extLst>
          </p:cNvPr>
          <p:cNvGrpSpPr/>
          <p:nvPr/>
        </p:nvGrpSpPr>
        <p:grpSpPr>
          <a:xfrm>
            <a:off x="7217626" y="3922520"/>
            <a:ext cx="1463358" cy="509194"/>
            <a:chOff x="6869936" y="2067702"/>
            <a:chExt cx="2179797" cy="509194"/>
          </a:xfrm>
        </p:grpSpPr>
        <p:sp>
          <p:nvSpPr>
            <p:cNvPr id="170" name="사각형: 둥근 모서리 169">
              <a:extLst>
                <a:ext uri="{FF2B5EF4-FFF2-40B4-BE49-F238E27FC236}">
                  <a16:creationId xmlns:a16="http://schemas.microsoft.com/office/drawing/2014/main" id="{6A9DFD52-2A34-A918-E4EF-57C96EB65577}"/>
                </a:ext>
              </a:extLst>
            </p:cNvPr>
            <p:cNvSpPr/>
            <p:nvPr/>
          </p:nvSpPr>
          <p:spPr>
            <a:xfrm>
              <a:off x="6869936" y="2067702"/>
              <a:ext cx="2102177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30927DBA-2CEF-8219-30F6-ECD21399B869}"/>
                </a:ext>
              </a:extLst>
            </p:cNvPr>
            <p:cNvSpPr txBox="1"/>
            <p:nvPr/>
          </p:nvSpPr>
          <p:spPr>
            <a:xfrm>
              <a:off x="6947556" y="2134600"/>
              <a:ext cx="2102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dirty="0" err="1"/>
                <a:t>드론</a:t>
              </a:r>
              <a:r>
                <a:rPr lang="ko-KR" altLang="ko-KR" dirty="0"/>
                <a:t> · 사람</a:t>
              </a:r>
              <a:r>
                <a:rPr lang="en-US" altLang="ko-KR" dirty="0"/>
                <a:t> </a:t>
              </a:r>
              <a:r>
                <a:rPr lang="ko-KR" altLang="ko-KR" dirty="0"/>
                <a:t> </a:t>
              </a:r>
              <a:endParaRPr lang="ko-KR" altLang="en-US" dirty="0"/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FFA90B23-529D-4C49-037F-8D4EAA7637B2}"/>
              </a:ext>
            </a:extLst>
          </p:cNvPr>
          <p:cNvGrpSpPr/>
          <p:nvPr/>
        </p:nvGrpSpPr>
        <p:grpSpPr>
          <a:xfrm>
            <a:off x="10338232" y="3922520"/>
            <a:ext cx="679361" cy="509194"/>
            <a:chOff x="6869936" y="2067702"/>
            <a:chExt cx="2179797" cy="509194"/>
          </a:xfrm>
        </p:grpSpPr>
        <p:sp>
          <p:nvSpPr>
            <p:cNvPr id="173" name="사각형: 둥근 모서리 172">
              <a:extLst>
                <a:ext uri="{FF2B5EF4-FFF2-40B4-BE49-F238E27FC236}">
                  <a16:creationId xmlns:a16="http://schemas.microsoft.com/office/drawing/2014/main" id="{1A199136-303A-2B3C-0688-A5C7AFB00456}"/>
                </a:ext>
              </a:extLst>
            </p:cNvPr>
            <p:cNvSpPr/>
            <p:nvPr/>
          </p:nvSpPr>
          <p:spPr>
            <a:xfrm>
              <a:off x="6869936" y="2067702"/>
              <a:ext cx="2102177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DBD8632-54E0-9B26-0B01-A05FCA5934BE}"/>
                </a:ext>
              </a:extLst>
            </p:cNvPr>
            <p:cNvSpPr txBox="1"/>
            <p:nvPr/>
          </p:nvSpPr>
          <p:spPr>
            <a:xfrm>
              <a:off x="6947556" y="2134600"/>
              <a:ext cx="2102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함정</a:t>
              </a: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9B6F6ED4-0D60-BDBE-921F-FA74A1C973B6}"/>
              </a:ext>
            </a:extLst>
          </p:cNvPr>
          <p:cNvSpPr txBox="1"/>
          <p:nvPr/>
        </p:nvSpPr>
        <p:spPr>
          <a:xfrm>
            <a:off x="9753132" y="3094745"/>
            <a:ext cx="1987086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ko-KR" altLang="en-US" sz="2400" b="1" dirty="0"/>
              <a:t>세부 분류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D7E7649A-5F9D-4A44-2AA7-F8684F1FF680}"/>
              </a:ext>
            </a:extLst>
          </p:cNvPr>
          <p:cNvGrpSpPr/>
          <p:nvPr/>
        </p:nvGrpSpPr>
        <p:grpSpPr>
          <a:xfrm>
            <a:off x="10334142" y="4838491"/>
            <a:ext cx="679361" cy="509194"/>
            <a:chOff x="6869936" y="2067702"/>
            <a:chExt cx="2179797" cy="509194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21F8F39F-A3E5-9A70-9D73-42FA8543AF56}"/>
                </a:ext>
              </a:extLst>
            </p:cNvPr>
            <p:cNvSpPr/>
            <p:nvPr/>
          </p:nvSpPr>
          <p:spPr>
            <a:xfrm>
              <a:off x="6869936" y="2067702"/>
              <a:ext cx="2102177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87CE55F-28F6-27BE-6E6A-F38BCB6A9EA0}"/>
                </a:ext>
              </a:extLst>
            </p:cNvPr>
            <p:cNvSpPr txBox="1"/>
            <p:nvPr/>
          </p:nvSpPr>
          <p:spPr>
            <a:xfrm>
              <a:off x="6947555" y="2134600"/>
              <a:ext cx="2102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중형</a:t>
              </a: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C79EBBED-71BA-F30E-1C70-C2D8CA7783D6}"/>
              </a:ext>
            </a:extLst>
          </p:cNvPr>
          <p:cNvGrpSpPr/>
          <p:nvPr/>
        </p:nvGrpSpPr>
        <p:grpSpPr>
          <a:xfrm>
            <a:off x="9362121" y="4835458"/>
            <a:ext cx="679361" cy="509194"/>
            <a:chOff x="6869936" y="2067702"/>
            <a:chExt cx="2179797" cy="509194"/>
          </a:xfrm>
        </p:grpSpPr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A8C011D7-4178-3D13-803B-2BE60C540C21}"/>
                </a:ext>
              </a:extLst>
            </p:cNvPr>
            <p:cNvSpPr/>
            <p:nvPr/>
          </p:nvSpPr>
          <p:spPr>
            <a:xfrm>
              <a:off x="6869936" y="2067702"/>
              <a:ext cx="2102177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CB9B96C-CE26-D3FB-20BB-7E190BA7BCDB}"/>
                </a:ext>
              </a:extLst>
            </p:cNvPr>
            <p:cNvSpPr txBox="1"/>
            <p:nvPr/>
          </p:nvSpPr>
          <p:spPr>
            <a:xfrm>
              <a:off x="6947555" y="2134600"/>
              <a:ext cx="2102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소형</a:t>
              </a: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4DFFC16A-F1A7-BE72-C8ED-30BCA949F029}"/>
              </a:ext>
            </a:extLst>
          </p:cNvPr>
          <p:cNvGrpSpPr/>
          <p:nvPr/>
        </p:nvGrpSpPr>
        <p:grpSpPr>
          <a:xfrm>
            <a:off x="11282068" y="4835458"/>
            <a:ext cx="679361" cy="509194"/>
            <a:chOff x="6869936" y="2067702"/>
            <a:chExt cx="2179797" cy="509194"/>
          </a:xfrm>
        </p:grpSpPr>
        <p:sp>
          <p:nvSpPr>
            <p:cNvPr id="184" name="사각형: 둥근 모서리 183">
              <a:extLst>
                <a:ext uri="{FF2B5EF4-FFF2-40B4-BE49-F238E27FC236}">
                  <a16:creationId xmlns:a16="http://schemas.microsoft.com/office/drawing/2014/main" id="{AAB29807-FD27-7DC9-5815-4731AA3FE465}"/>
                </a:ext>
              </a:extLst>
            </p:cNvPr>
            <p:cNvSpPr/>
            <p:nvPr/>
          </p:nvSpPr>
          <p:spPr>
            <a:xfrm>
              <a:off x="6869936" y="2067702"/>
              <a:ext cx="2102177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1F6AE81-CD6E-F681-DD47-BD4F722B701D}"/>
                </a:ext>
              </a:extLst>
            </p:cNvPr>
            <p:cNvSpPr txBox="1"/>
            <p:nvPr/>
          </p:nvSpPr>
          <p:spPr>
            <a:xfrm>
              <a:off x="6947555" y="2134600"/>
              <a:ext cx="2102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대형</a:t>
              </a:r>
            </a:p>
          </p:txBody>
        </p:sp>
      </p:grp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A65C2DE-35D6-5E65-9ECB-8C84993A15EC}"/>
              </a:ext>
            </a:extLst>
          </p:cNvPr>
          <p:cNvSpPr/>
          <p:nvPr/>
        </p:nvSpPr>
        <p:spPr>
          <a:xfrm>
            <a:off x="482836" y="1808674"/>
            <a:ext cx="5186203" cy="2240608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18007460-F149-2074-4A01-5028CF0750C8}"/>
              </a:ext>
            </a:extLst>
          </p:cNvPr>
          <p:cNvSpPr/>
          <p:nvPr/>
        </p:nvSpPr>
        <p:spPr>
          <a:xfrm>
            <a:off x="482835" y="4232063"/>
            <a:ext cx="5186203" cy="2175003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DFAB7B0-77F3-78FE-9A4D-2DC0570BE9E7}"/>
              </a:ext>
            </a:extLst>
          </p:cNvPr>
          <p:cNvCxnSpPr>
            <a:cxnSpLocks/>
            <a:stCxn id="161" idx="2"/>
            <a:endCxn id="167" idx="0"/>
          </p:cNvCxnSpPr>
          <p:nvPr/>
        </p:nvCxnSpPr>
        <p:spPr>
          <a:xfrm>
            <a:off x="7921025" y="2576896"/>
            <a:ext cx="0" cy="34828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530711F6-7DE7-DE0F-3541-FC2952CF1705}"/>
              </a:ext>
            </a:extLst>
          </p:cNvPr>
          <p:cNvCxnSpPr>
            <a:cxnSpLocks/>
            <a:stCxn id="167" idx="2"/>
            <a:endCxn id="170" idx="0"/>
          </p:cNvCxnSpPr>
          <p:nvPr/>
        </p:nvCxnSpPr>
        <p:spPr>
          <a:xfrm>
            <a:off x="7921025" y="3434374"/>
            <a:ext cx="2226" cy="48814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556DB0C8-9EBA-A4A1-D872-30106EAED6BB}"/>
              </a:ext>
            </a:extLst>
          </p:cNvPr>
          <p:cNvCxnSpPr/>
          <p:nvPr/>
        </p:nvCxnSpPr>
        <p:spPr>
          <a:xfrm>
            <a:off x="7921024" y="3678447"/>
            <a:ext cx="274746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5EEB1BB2-0A6F-75EE-61CC-87D5B34E7B97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10665817" y="3678447"/>
            <a:ext cx="0" cy="24407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D544828D-F836-4020-8530-B4537F5F388C}"/>
              </a:ext>
            </a:extLst>
          </p:cNvPr>
          <p:cNvCxnSpPr>
            <a:cxnSpLocks/>
            <a:stCxn id="173" idx="2"/>
            <a:endCxn id="178" idx="0"/>
          </p:cNvCxnSpPr>
          <p:nvPr/>
        </p:nvCxnSpPr>
        <p:spPr>
          <a:xfrm flipH="1">
            <a:off x="10661727" y="4431714"/>
            <a:ext cx="4090" cy="40677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D2DF59C6-AC2F-6516-BDB8-E88D6FDF8920}"/>
              </a:ext>
            </a:extLst>
          </p:cNvPr>
          <p:cNvCxnSpPr/>
          <p:nvPr/>
        </p:nvCxnSpPr>
        <p:spPr>
          <a:xfrm>
            <a:off x="9689706" y="4635102"/>
            <a:ext cx="191994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1A42D1AB-9E36-73CF-A277-02CE3A967E74}"/>
              </a:ext>
            </a:extLst>
          </p:cNvPr>
          <p:cNvCxnSpPr>
            <a:cxnSpLocks/>
            <a:endCxn id="181" idx="0"/>
          </p:cNvCxnSpPr>
          <p:nvPr/>
        </p:nvCxnSpPr>
        <p:spPr>
          <a:xfrm>
            <a:off x="9689706" y="4635102"/>
            <a:ext cx="0" cy="20035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45017817-C8BE-E8CD-1F09-577CAE0EDC02}"/>
              </a:ext>
            </a:extLst>
          </p:cNvPr>
          <p:cNvCxnSpPr>
            <a:cxnSpLocks/>
            <a:endCxn id="184" idx="0"/>
          </p:cNvCxnSpPr>
          <p:nvPr/>
        </p:nvCxnSpPr>
        <p:spPr>
          <a:xfrm>
            <a:off x="11609653" y="4635102"/>
            <a:ext cx="0" cy="20035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C2A31853-C0E6-D4CD-1D7C-CE24E2324589}"/>
              </a:ext>
            </a:extLst>
          </p:cNvPr>
          <p:cNvCxnSpPr>
            <a:cxnSpLocks/>
          </p:cNvCxnSpPr>
          <p:nvPr/>
        </p:nvCxnSpPr>
        <p:spPr>
          <a:xfrm>
            <a:off x="7921024" y="5835192"/>
            <a:ext cx="274070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10493FCB-47DB-BACA-A26C-9BDAFEFCD847}"/>
              </a:ext>
            </a:extLst>
          </p:cNvPr>
          <p:cNvCxnSpPr/>
          <p:nvPr/>
        </p:nvCxnSpPr>
        <p:spPr>
          <a:xfrm>
            <a:off x="10649679" y="5542961"/>
            <a:ext cx="0" cy="29223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B14C46F4-A4DC-F5E2-4987-72C34A836B58}"/>
              </a:ext>
            </a:extLst>
          </p:cNvPr>
          <p:cNvCxnSpPr/>
          <p:nvPr/>
        </p:nvCxnSpPr>
        <p:spPr>
          <a:xfrm>
            <a:off x="7921024" y="4735280"/>
            <a:ext cx="0" cy="10999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675D4A93-91F6-A487-C0F2-C3AF32274B79}"/>
              </a:ext>
            </a:extLst>
          </p:cNvPr>
          <p:cNvCxnSpPr/>
          <p:nvPr/>
        </p:nvCxnSpPr>
        <p:spPr>
          <a:xfrm>
            <a:off x="9291375" y="5835192"/>
            <a:ext cx="0" cy="16025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FD7B3C20-EAFE-A2EE-5263-43EA050C2B68}"/>
              </a:ext>
            </a:extLst>
          </p:cNvPr>
          <p:cNvGrpSpPr/>
          <p:nvPr/>
        </p:nvGrpSpPr>
        <p:grpSpPr>
          <a:xfrm>
            <a:off x="8234098" y="5992468"/>
            <a:ext cx="2114553" cy="509194"/>
            <a:chOff x="6869935" y="2067702"/>
            <a:chExt cx="3149807" cy="509194"/>
          </a:xfrm>
        </p:grpSpPr>
        <p:sp>
          <p:nvSpPr>
            <p:cNvPr id="222" name="사각형: 둥근 모서리 221">
              <a:extLst>
                <a:ext uri="{FF2B5EF4-FFF2-40B4-BE49-F238E27FC236}">
                  <a16:creationId xmlns:a16="http://schemas.microsoft.com/office/drawing/2014/main" id="{09A62150-8FC6-363A-28AF-B0700D8ADA90}"/>
                </a:ext>
              </a:extLst>
            </p:cNvPr>
            <p:cNvSpPr/>
            <p:nvPr/>
          </p:nvSpPr>
          <p:spPr>
            <a:xfrm>
              <a:off x="6869935" y="2067702"/>
              <a:ext cx="3072188" cy="50919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17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91FD266-A088-49B2-86D2-A740E0AD3D21}"/>
                </a:ext>
              </a:extLst>
            </p:cNvPr>
            <p:cNvSpPr txBox="1"/>
            <p:nvPr/>
          </p:nvSpPr>
          <p:spPr>
            <a:xfrm>
              <a:off x="6947554" y="2134600"/>
              <a:ext cx="3072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최종 </a:t>
              </a:r>
              <a:r>
                <a:rPr lang="ko-KR" altLang="en-US"/>
                <a:t>결과 시각화</a:t>
              </a:r>
              <a:endParaRPr lang="ko-KR" altLang="en-US" dirty="0"/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9CDE4F9A-F604-E786-A6F5-B4003440B38B}"/>
              </a:ext>
            </a:extLst>
          </p:cNvPr>
          <p:cNvSpPr txBox="1"/>
          <p:nvPr/>
        </p:nvSpPr>
        <p:spPr>
          <a:xfrm>
            <a:off x="318732" y="1699379"/>
            <a:ext cx="668815" cy="368323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b="1"/>
              <a:t>함정</a:t>
            </a:r>
            <a:endParaRPr lang="ko-KR" altLang="en-US" b="1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ED3CA5C-C9A6-2085-2322-2E03D2CF86E3}"/>
              </a:ext>
            </a:extLst>
          </p:cNvPr>
          <p:cNvSpPr txBox="1"/>
          <p:nvPr/>
        </p:nvSpPr>
        <p:spPr>
          <a:xfrm>
            <a:off x="318732" y="4174084"/>
            <a:ext cx="1330960" cy="368323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ko-KR" b="1" dirty="0" err="1"/>
              <a:t>드론</a:t>
            </a:r>
            <a:r>
              <a:rPr lang="ko-KR" altLang="ko-KR" b="1" dirty="0"/>
              <a:t> · 사</a:t>
            </a:r>
            <a:r>
              <a:rPr lang="ko-KR" altLang="en-US" b="1" dirty="0"/>
              <a:t>람</a:t>
            </a:r>
          </a:p>
        </p:txBody>
      </p:sp>
    </p:spTree>
    <p:extLst>
      <p:ext uri="{BB962C8B-B14F-4D97-AF65-F5344CB8AC3E}">
        <p14:creationId xmlns:p14="http://schemas.microsoft.com/office/powerpoint/2010/main" val="227083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963D3-60D1-23CD-FF3C-1E4CB7E5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2D942F-924B-6E43-ED32-79301BF7BAA4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8817E-C05F-481E-EEBD-CEE01259D46E}"/>
              </a:ext>
            </a:extLst>
          </p:cNvPr>
          <p:cNvSpPr txBox="1"/>
          <p:nvPr/>
        </p:nvSpPr>
        <p:spPr>
          <a:xfrm>
            <a:off x="379142" y="150893"/>
            <a:ext cx="42723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데이터 구축</a:t>
            </a:r>
            <a:r>
              <a:rPr lang="en-US" altLang="ko-KR" sz="4000" b="1" dirty="0">
                <a:solidFill>
                  <a:schemeClr val="bg1"/>
                </a:solidFill>
              </a:rPr>
              <a:t>: </a:t>
            </a:r>
            <a:r>
              <a:rPr lang="ko-KR" altLang="en-US" sz="4000" b="1" dirty="0">
                <a:solidFill>
                  <a:schemeClr val="bg1"/>
                </a:solidFill>
              </a:rPr>
              <a:t>함정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2F1DBD-19BF-DAE9-6637-BBAC51A0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48" y="1159944"/>
            <a:ext cx="3979122" cy="54665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7E1A2-B639-2884-3D99-123DBBD17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9944"/>
            <a:ext cx="3813591" cy="32164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6CD0B8-C7F3-D856-71AE-783C7DF82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42" y="1160198"/>
            <a:ext cx="1572205" cy="20929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1D12479-A4B9-2577-004D-89793B437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412474"/>
            <a:ext cx="3813591" cy="22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2051D-DA11-F823-4D96-5074FE08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CB3672C-6822-3325-19B8-1AEB3F6FFDAF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A3CCF-203B-B80A-BC1E-F2BB72BB66AC}"/>
              </a:ext>
            </a:extLst>
          </p:cNvPr>
          <p:cNvSpPr txBox="1"/>
          <p:nvPr/>
        </p:nvSpPr>
        <p:spPr>
          <a:xfrm>
            <a:off x="379142" y="150893"/>
            <a:ext cx="9328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연안 환경 구성</a:t>
            </a:r>
            <a:r>
              <a:rPr lang="en-US" altLang="ko-KR" sz="4000" b="1" dirty="0">
                <a:solidFill>
                  <a:schemeClr val="bg1"/>
                </a:solidFill>
              </a:rPr>
              <a:t>: </a:t>
            </a:r>
            <a:r>
              <a:rPr lang="ko-KR" altLang="ko-KR" sz="4000" b="1" dirty="0" err="1">
                <a:solidFill>
                  <a:schemeClr val="bg1"/>
                </a:solidFill>
              </a:rPr>
              <a:t>Photogrammetry</a:t>
            </a:r>
            <a:r>
              <a:rPr lang="en-US" altLang="ko-KR" sz="4000" b="1" dirty="0">
                <a:solidFill>
                  <a:schemeClr val="bg1"/>
                </a:solidFill>
              </a:rPr>
              <a:t> </a:t>
            </a:r>
            <a:r>
              <a:rPr lang="ko-KR" altLang="en-US" sz="4000" b="1" dirty="0">
                <a:solidFill>
                  <a:schemeClr val="bg1"/>
                </a:solidFill>
              </a:rPr>
              <a:t>모델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AEFCD8-BBAE-1F7E-26FC-5F531E81B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52" y="1348481"/>
            <a:ext cx="5276354" cy="22764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D8C447-8098-A9C8-ABDB-12FE0CF25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1"/>
          <a:stretch>
            <a:fillRect/>
          </a:stretch>
        </p:blipFill>
        <p:spPr>
          <a:xfrm>
            <a:off x="6249970" y="3714285"/>
            <a:ext cx="5276354" cy="285482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410CA07-990F-6C46-9C8B-938E368A6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7" b="14420"/>
          <a:stretch>
            <a:fillRect/>
          </a:stretch>
        </p:blipFill>
        <p:spPr>
          <a:xfrm>
            <a:off x="6249970" y="1348481"/>
            <a:ext cx="5276354" cy="227649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6703B00-98D6-4FA5-7992-B5606E3DA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52" y="3714285"/>
            <a:ext cx="5276354" cy="2854828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4FEC2A1F-CD4D-3E0E-2057-89963E5AAFD9}"/>
              </a:ext>
            </a:extLst>
          </p:cNvPr>
          <p:cNvSpPr/>
          <p:nvPr/>
        </p:nvSpPr>
        <p:spPr>
          <a:xfrm>
            <a:off x="482839" y="1291919"/>
            <a:ext cx="5459192" cy="533079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1BF030-8D8D-6763-5826-204B9455EE88}"/>
              </a:ext>
            </a:extLst>
          </p:cNvPr>
          <p:cNvSpPr txBox="1"/>
          <p:nvPr/>
        </p:nvSpPr>
        <p:spPr>
          <a:xfrm>
            <a:off x="665676" y="1180882"/>
            <a:ext cx="1304526" cy="400110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6"/>
                </a:solidFill>
              </a:rPr>
              <a:t>항만 지역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7DF0DB3-12EF-983C-73E0-AEAB863B61CC}"/>
              </a:ext>
            </a:extLst>
          </p:cNvPr>
          <p:cNvSpPr/>
          <p:nvPr/>
        </p:nvSpPr>
        <p:spPr>
          <a:xfrm>
            <a:off x="6152559" y="1291919"/>
            <a:ext cx="5459192" cy="533079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4D9F0E-805F-43B9-DDE3-40EECA8278C8}"/>
              </a:ext>
            </a:extLst>
          </p:cNvPr>
          <p:cNvSpPr txBox="1"/>
          <p:nvPr/>
        </p:nvSpPr>
        <p:spPr>
          <a:xfrm>
            <a:off x="6388702" y="1180882"/>
            <a:ext cx="2067141" cy="400110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6"/>
                </a:solidFill>
              </a:rPr>
              <a:t>관광지</a:t>
            </a:r>
            <a:r>
              <a:rPr lang="en-US" altLang="ko-KR" sz="2000" b="1" dirty="0">
                <a:solidFill>
                  <a:schemeClr val="accent6"/>
                </a:solidFill>
              </a:rPr>
              <a:t>·</a:t>
            </a:r>
            <a:r>
              <a:rPr lang="ko-KR" altLang="en-US" sz="2000" b="1" dirty="0">
                <a:solidFill>
                  <a:schemeClr val="accent6"/>
                </a:solidFill>
              </a:rPr>
              <a:t>해수욕장</a:t>
            </a:r>
          </a:p>
        </p:txBody>
      </p:sp>
    </p:spTree>
    <p:extLst>
      <p:ext uri="{BB962C8B-B14F-4D97-AF65-F5344CB8AC3E}">
        <p14:creationId xmlns:p14="http://schemas.microsoft.com/office/powerpoint/2010/main" val="179326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5B1F8-D2EA-243F-590F-04FFCEF6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5ECC78-DC4B-EA09-3CFC-F183331B48F4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DFB2D-BA58-7B20-83D9-41FDF52802D3}"/>
              </a:ext>
            </a:extLst>
          </p:cNvPr>
          <p:cNvSpPr txBox="1"/>
          <p:nvPr/>
        </p:nvSpPr>
        <p:spPr>
          <a:xfrm>
            <a:off x="379142" y="150893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결과물</a:t>
            </a:r>
          </a:p>
        </p:txBody>
      </p:sp>
      <p:sp>
        <p:nvSpPr>
          <p:cNvPr id="2" name="TextBox 1">
            <a:hlinkClick r:id="rId2"/>
            <a:extLst>
              <a:ext uri="{FF2B5EF4-FFF2-40B4-BE49-F238E27FC236}">
                <a16:creationId xmlns:a16="http://schemas.microsoft.com/office/drawing/2014/main" id="{1CFF7E5A-4957-3D18-B614-4DA0DB98D6CF}"/>
              </a:ext>
            </a:extLst>
          </p:cNvPr>
          <p:cNvSpPr txBox="1"/>
          <p:nvPr/>
        </p:nvSpPr>
        <p:spPr>
          <a:xfrm>
            <a:off x="575035" y="1395166"/>
            <a:ext cx="5475281" cy="46166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hlinkClick r:id="rId3"/>
              </a:rPr>
              <a:t>https://</a:t>
            </a:r>
            <a:r>
              <a:rPr lang="en-US" altLang="ko-KR" sz="2400" b="1" dirty="0" err="1">
                <a:solidFill>
                  <a:schemeClr val="bg1"/>
                </a:solidFill>
                <a:hlinkClick r:id="rId3"/>
              </a:rPr>
              <a:t>marineproject.streamlit.app</a:t>
            </a:r>
            <a:r>
              <a:rPr lang="en-US" altLang="ko-KR" sz="2400" b="1" dirty="0">
                <a:solidFill>
                  <a:schemeClr val="bg1"/>
                </a:solidFill>
                <a:hlinkClick r:id="rId3"/>
              </a:rPr>
              <a:t>/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F293577-D27B-B057-6BFA-CE275774C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35" y="2030604"/>
            <a:ext cx="7170946" cy="412475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E227980-26E6-9DF4-C817-5D663C851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175" y="4111020"/>
            <a:ext cx="3769789" cy="204433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1A1B67-D553-4589-8A3C-9F8B4026908A}"/>
              </a:ext>
            </a:extLst>
          </p:cNvPr>
          <p:cNvSpPr/>
          <p:nvPr/>
        </p:nvSpPr>
        <p:spPr>
          <a:xfrm>
            <a:off x="7847175" y="4111020"/>
            <a:ext cx="3769789" cy="2044336"/>
          </a:xfrm>
          <a:prstGeom prst="rect">
            <a:avLst/>
          </a:prstGeom>
          <a:noFill/>
          <a:ln w="28575">
            <a:solidFill>
              <a:srgbClr val="FF7C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9167764-BCA4-41D8-2241-AA96090623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1370"/>
          <a:stretch>
            <a:fillRect/>
          </a:stretch>
        </p:blipFill>
        <p:spPr>
          <a:xfrm>
            <a:off x="7847175" y="2377114"/>
            <a:ext cx="3744701" cy="157887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C4DA6C83-A3B2-4C92-23A3-EDFD9FB0DA82}"/>
              </a:ext>
            </a:extLst>
          </p:cNvPr>
          <p:cNvSpPr/>
          <p:nvPr/>
        </p:nvSpPr>
        <p:spPr>
          <a:xfrm>
            <a:off x="7847175" y="2377114"/>
            <a:ext cx="3744701" cy="1578870"/>
          </a:xfrm>
          <a:prstGeom prst="rect">
            <a:avLst/>
          </a:prstGeom>
          <a:noFill/>
          <a:ln w="28575">
            <a:solidFill>
              <a:srgbClr val="27C1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27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55B2F-2465-03D8-8495-855FE73D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9C6970-C7B9-6912-6B1A-1707E6E81348}"/>
              </a:ext>
            </a:extLst>
          </p:cNvPr>
          <p:cNvSpPr>
            <a:spLocks/>
          </p:cNvSpPr>
          <p:nvPr/>
        </p:nvSpPr>
        <p:spPr>
          <a:xfrm>
            <a:off x="0" y="-4403"/>
            <a:ext cx="12192000" cy="1018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78E92-D975-1271-550F-D54B41E91128}"/>
              </a:ext>
            </a:extLst>
          </p:cNvPr>
          <p:cNvSpPr txBox="1"/>
          <p:nvPr/>
        </p:nvSpPr>
        <p:spPr>
          <a:xfrm>
            <a:off x="379142" y="150893"/>
            <a:ext cx="55258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토의</a:t>
            </a:r>
            <a:r>
              <a:rPr lang="en-US" altLang="ko-KR" sz="4000" b="1" dirty="0">
                <a:solidFill>
                  <a:schemeClr val="bg1"/>
                </a:solidFill>
              </a:rPr>
              <a:t> </a:t>
            </a:r>
            <a:r>
              <a:rPr lang="ko-KR" altLang="en-US" sz="4000" b="1" dirty="0">
                <a:solidFill>
                  <a:schemeClr val="bg1"/>
                </a:solidFill>
              </a:rPr>
              <a:t>및 향후 발전 방향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4F71D1-8CF3-3CE1-3092-1046AC7FE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922" y="1073716"/>
            <a:ext cx="9832156" cy="5784284"/>
          </a:xfrm>
          <a:prstGeom prst="rect">
            <a:avLst/>
          </a:prstGeom>
          <a:solidFill>
            <a:srgbClr val="F2F2F2"/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215CC89-57AB-388B-F9B9-6977796E2402}"/>
              </a:ext>
            </a:extLst>
          </p:cNvPr>
          <p:cNvSpPr/>
          <p:nvPr/>
        </p:nvSpPr>
        <p:spPr>
          <a:xfrm>
            <a:off x="1179922" y="3985404"/>
            <a:ext cx="4916078" cy="2786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06141-6261-E04C-7A76-D7CE86A1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D9E5DA-F7B0-7C80-73F2-886AE207B894}"/>
              </a:ext>
            </a:extLst>
          </p:cNvPr>
          <p:cNvSpPr txBox="1"/>
          <p:nvPr/>
        </p:nvSpPr>
        <p:spPr>
          <a:xfrm>
            <a:off x="4080192" y="2921168"/>
            <a:ext cx="40316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/>
              <a:t>Thank you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428086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165</Words>
  <Application>Microsoft Office PowerPoint</Application>
  <PresentationFormat>와이드스크린</PresentationFormat>
  <Paragraphs>46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Hyojeong Lee</dc:creator>
  <cp:lastModifiedBy>Hyojeong Lee</cp:lastModifiedBy>
  <cp:revision>27</cp:revision>
  <dcterms:created xsi:type="dcterms:W3CDTF">2026-08-27T01:29:14Z</dcterms:created>
  <dcterms:modified xsi:type="dcterms:W3CDTF">2026-09-14T08:45:14Z</dcterms:modified>
</cp:coreProperties>
</file>